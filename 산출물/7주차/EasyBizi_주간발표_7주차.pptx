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15" r:id="rId3"/>
    <p:sldId id="316" r:id="rId4"/>
    <p:sldId id="317" r:id="rId5"/>
    <p:sldId id="323" r:id="rId6"/>
    <p:sldId id="318" r:id="rId7"/>
    <p:sldId id="321" r:id="rId8"/>
    <p:sldId id="322" r:id="rId9"/>
    <p:sldId id="31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92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78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E55"/>
          </a:solidFill>
          <a:ln w="12700">
            <a:solidFill>
              <a:srgbClr val="162E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76656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66751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Easy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965960" y="182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4B8A6"/>
                </a:solidFill>
              </a:rPr>
              <a:t>Bizi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</a:rPr>
              <a:t>주간 발표  |  Weekly 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주간발표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2026.02.24  |  Team EasyBizi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9144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김효빈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15361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안채연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03720" y="215798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오학성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277977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이경현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3401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이도경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0" y="4023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정소영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r>
              <a:rPr lang="en-US" altLang="ko-KR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검색 평가 체계 구축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9488"/>
                </a:solidFill>
              </a:rPr>
              <a:t>RAGAS </a:t>
            </a:r>
            <a:r>
              <a:rPr lang="en-US" altLang="ko-KR" sz="1200" b="1" dirty="0" err="1">
                <a:solidFill>
                  <a:srgbClr val="0D9488"/>
                </a:solidFill>
              </a:rPr>
              <a:t>기반</a:t>
            </a:r>
            <a:r>
              <a:rPr lang="en-US" altLang="ko-KR" sz="1200" b="1" dirty="0">
                <a:solidFill>
                  <a:srgbClr val="0D9488"/>
                </a:solidFill>
              </a:rPr>
              <a:t> </a:t>
            </a:r>
            <a:r>
              <a:rPr lang="en-US" sz="1200" b="1" dirty="0">
                <a:solidFill>
                  <a:srgbClr val="0D9488"/>
                </a:solidFill>
              </a:rPr>
              <a:t>F1 Score </a:t>
            </a:r>
            <a:r>
              <a:rPr lang="en-US" sz="1200" b="1" dirty="0" err="1">
                <a:solidFill>
                  <a:srgbClr val="0D9488"/>
                </a:solidFill>
              </a:rPr>
              <a:t>평가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8503920" cy="64008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💡  문서를 청크 단위로 나눈 뒤, 약 30개를 샘플링하여 검색 결과에 해당 청크가 포함되는지 확인합니다.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       Precision / Recall / F1 Score 로 검색 품질을 정량 평가합니다.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0040" y="2148840"/>
            <a:ext cx="2697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9768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Precision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" y="2697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관련 있는 검색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검색 결과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" y="3749040"/>
            <a:ext cx="2536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검색된 문서 중 실제로 관련 있는 문서의 비율. 높을수록 노이즈가 적음.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27832" y="21488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27832" y="2148840"/>
            <a:ext cx="2697480" cy="5029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3756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Recall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2697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검색된 관련 문서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전체 관련 문서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전체 관련 문서 중 검색된 문서 비율.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 err="1">
                <a:solidFill>
                  <a:srgbClr val="64748B"/>
                </a:solidFill>
              </a:rPr>
              <a:t>문서</a:t>
            </a:r>
            <a:r>
              <a:rPr lang="en-US" sz="1000" dirty="0">
                <a:solidFill>
                  <a:srgbClr val="64748B"/>
                </a:solidFill>
              </a:rPr>
              <a:t> 수 증가 시 높아지는 경향.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35624" y="2148840"/>
            <a:ext cx="2697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135624" y="2148840"/>
            <a:ext cx="2697480" cy="50292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45352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F1 Score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45352" y="26974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Precision × Recall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+ Recall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45352" y="3749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Precision과 Recall의 조화평균.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1000" dirty="0" err="1">
                <a:solidFill>
                  <a:srgbClr val="64748B"/>
                </a:solidFill>
              </a:rPr>
              <a:t>두</a:t>
            </a:r>
            <a:r>
              <a:rPr lang="en-US" sz="1000" dirty="0">
                <a:solidFill>
                  <a:srgbClr val="64748B"/>
                </a:solidFill>
              </a:rPr>
              <a:t> 지표의 균형을 동시에 평가.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372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r>
              <a:rPr lang="en-US" altLang="ko-KR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검색 방식 비교 실험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0D9488"/>
                </a:solidFill>
              </a:rPr>
              <a:t>다양한 </a:t>
            </a:r>
            <a:r>
              <a:rPr lang="en-US" sz="1200" b="1" dirty="0" err="1">
                <a:solidFill>
                  <a:srgbClr val="0D9488"/>
                </a:solidFill>
              </a:rPr>
              <a:t>검색</a:t>
            </a:r>
            <a:r>
              <a:rPr lang="en-US" sz="1200" b="1" dirty="0">
                <a:solidFill>
                  <a:srgbClr val="0D9488"/>
                </a:solidFill>
              </a:rPr>
              <a:t> 방식 조합별 성능 비교 실험 계획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500" y="1371600"/>
            <a:ext cx="27432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95300" y="1549400"/>
            <a:ext cx="482600" cy="482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5300" y="15494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Text 11"/>
          <p:cNvSpPr/>
          <p:nvPr/>
        </p:nvSpPr>
        <p:spPr>
          <a:xfrm>
            <a:off x="1079500" y="14986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300" b="1" dirty="0">
                <a:solidFill>
                  <a:srgbClr val="1E293B"/>
                </a:solidFill>
              </a:rPr>
              <a:t>하이브리드 검색 가중치</a:t>
            </a:r>
          </a:p>
        </p:txBody>
      </p:sp>
      <p:sp>
        <p:nvSpPr>
          <p:cNvPr id="14" name="Text 12"/>
          <p:cNvSpPr/>
          <p:nvPr/>
        </p:nvSpPr>
        <p:spPr>
          <a:xfrm>
            <a:off x="1079500" y="1816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9488"/>
                </a:solidFill>
              </a:rPr>
              <a:t>Hybrid Search Weight</a:t>
            </a:r>
          </a:p>
        </p:txBody>
      </p:sp>
      <p:sp>
        <p:nvSpPr>
          <p:cNvPr id="15" name="Text 13"/>
          <p:cNvSpPr/>
          <p:nvPr/>
        </p:nvSpPr>
        <p:spPr>
          <a:xfrm>
            <a:off x="495300" y="2146300"/>
            <a:ext cx="2387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64748B"/>
                </a:solidFill>
              </a:rPr>
              <a:t>Vector : BM25 가중치 비율 변경 비교</a:t>
            </a:r>
          </a:p>
        </p:txBody>
      </p:sp>
      <p:sp>
        <p:nvSpPr>
          <p:cNvPr id="16" name="Shape 14"/>
          <p:cNvSpPr/>
          <p:nvPr/>
        </p:nvSpPr>
        <p:spPr>
          <a:xfrm>
            <a:off x="3187700" y="1371600"/>
            <a:ext cx="27432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365500" y="1549400"/>
            <a:ext cx="482600" cy="4826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365500" y="15494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9" name="Text 17"/>
          <p:cNvSpPr/>
          <p:nvPr/>
        </p:nvSpPr>
        <p:spPr>
          <a:xfrm>
            <a:off x="3949700" y="14986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300" b="1" dirty="0">
                <a:solidFill>
                  <a:srgbClr val="1E293B"/>
                </a:solidFill>
              </a:rPr>
              <a:t>리랭커 On / Off</a:t>
            </a:r>
          </a:p>
        </p:txBody>
      </p:sp>
      <p:sp>
        <p:nvSpPr>
          <p:cNvPr id="20" name="Text 18"/>
          <p:cNvSpPr/>
          <p:nvPr/>
        </p:nvSpPr>
        <p:spPr>
          <a:xfrm>
            <a:off x="3949700" y="1816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</a:rPr>
              <a:t>Re-ranker Toggle</a:t>
            </a:r>
          </a:p>
        </p:txBody>
      </p:sp>
      <p:sp>
        <p:nvSpPr>
          <p:cNvPr id="21" name="Text 19"/>
          <p:cNvSpPr/>
          <p:nvPr/>
        </p:nvSpPr>
        <p:spPr>
          <a:xfrm>
            <a:off x="3365500" y="2146300"/>
            <a:ext cx="2387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64748B"/>
                </a:solidFill>
              </a:rPr>
              <a:t>리랭커 적용 전/후 품질 &amp; 응답 속도 비교</a:t>
            </a:r>
          </a:p>
        </p:txBody>
      </p:sp>
      <p:sp>
        <p:nvSpPr>
          <p:cNvPr id="22" name="Shape 20"/>
          <p:cNvSpPr/>
          <p:nvPr/>
        </p:nvSpPr>
        <p:spPr>
          <a:xfrm>
            <a:off x="6057900" y="1371600"/>
            <a:ext cx="27432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235700" y="1549400"/>
            <a:ext cx="482600" cy="48260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35700" y="15494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5" name="Text 23"/>
          <p:cNvSpPr/>
          <p:nvPr/>
        </p:nvSpPr>
        <p:spPr>
          <a:xfrm>
            <a:off x="6819900" y="14986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300" b="1" dirty="0">
                <a:solidFill>
                  <a:srgbClr val="1E293B"/>
                </a:solidFill>
              </a:rPr>
              <a:t>문서 수 조절</a:t>
            </a:r>
          </a:p>
        </p:txBody>
      </p:sp>
      <p:sp>
        <p:nvSpPr>
          <p:cNvPr id="26" name="Text 24"/>
          <p:cNvSpPr/>
          <p:nvPr/>
        </p:nvSpPr>
        <p:spPr>
          <a:xfrm>
            <a:off x="6819900" y="1816100"/>
            <a:ext cx="190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C6E"/>
                </a:solidFill>
              </a:rPr>
              <a:t>Top-K Document Control</a:t>
            </a:r>
          </a:p>
        </p:txBody>
      </p:sp>
      <p:sp>
        <p:nvSpPr>
          <p:cNvPr id="27" name="Text 25"/>
          <p:cNvSpPr/>
          <p:nvPr/>
        </p:nvSpPr>
        <p:spPr>
          <a:xfrm>
            <a:off x="6235700" y="2146300"/>
            <a:ext cx="2387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64748B"/>
                </a:solidFill>
              </a:rPr>
              <a:t>도메인별 Top-K + 최종 문서 수 조합 비교</a:t>
            </a:r>
          </a:p>
        </p:txBody>
      </p:sp>
      <p:sp>
        <p:nvSpPr>
          <p:cNvPr id="28" name="Shape 26"/>
          <p:cNvSpPr/>
          <p:nvPr/>
        </p:nvSpPr>
        <p:spPr>
          <a:xfrm>
            <a:off x="317500" y="3048000"/>
            <a:ext cx="850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95300" y="3225800"/>
            <a:ext cx="482600" cy="48260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5300" y="322580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1" name="Text 29"/>
          <p:cNvSpPr/>
          <p:nvPr/>
        </p:nvSpPr>
        <p:spPr>
          <a:xfrm>
            <a:off x="1079500" y="3175000"/>
            <a:ext cx="254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300" b="1" dirty="0">
                <a:solidFill>
                  <a:srgbClr val="1E293B"/>
                </a:solidFill>
              </a:rPr>
              <a:t>비교 기준 &amp; 평가셋</a:t>
            </a:r>
          </a:p>
        </p:txBody>
      </p:sp>
      <p:sp>
        <p:nvSpPr>
          <p:cNvPr id="32" name="Text 30"/>
          <p:cNvSpPr/>
          <p:nvPr/>
        </p:nvSpPr>
        <p:spPr>
          <a:xfrm>
            <a:off x="1079500" y="34925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C6E"/>
                </a:solidFill>
              </a:rPr>
              <a:t>Evaluation Criteria &amp; Dataset</a:t>
            </a:r>
          </a:p>
        </p:txBody>
      </p:sp>
      <p:sp>
        <p:nvSpPr>
          <p:cNvPr id="33" name="Text 31"/>
          <p:cNvSpPr/>
          <p:nvPr/>
        </p:nvSpPr>
        <p:spPr>
          <a:xfrm>
            <a:off x="495300" y="38354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334155"/>
                </a:solidFill>
              </a:rPr>
              <a:t>기준 : </a:t>
            </a:r>
            <a:r>
              <a:rPr lang="ko-KR" sz="1050" dirty="0">
                <a:solidFill>
                  <a:srgbClr val="334155"/>
                </a:solidFill>
              </a:rPr>
              <a:t>Faithfulness · 관련성 · F1 Score · 응답 속도　　</a:t>
            </a:r>
            <a:r>
              <a:rPr lang="ko-KR" sz="1050" b="1" dirty="0">
                <a:solidFill>
                  <a:srgbClr val="334155"/>
                </a:solidFill>
              </a:rPr>
              <a:t>｜　평가셋 : </a:t>
            </a:r>
            <a:r>
              <a:rPr lang="ko-KR" sz="1050" dirty="0">
                <a:solidFill>
                  <a:srgbClr val="334155"/>
                </a:solidFill>
              </a:rPr>
              <a:t>자체 구축 Q&amp;A 80건 (각 도메인 + 멀티 도메인)</a:t>
            </a:r>
          </a:p>
        </p:txBody>
      </p:sp>
      <p:sp>
        <p:nvSpPr>
          <p:cNvPr id="34" name="Shape 32"/>
          <p:cNvSpPr/>
          <p:nvPr/>
        </p:nvSpPr>
        <p:spPr>
          <a:xfrm>
            <a:off x="317500" y="4546600"/>
            <a:ext cx="8509000" cy="431800"/>
          </a:xfrm>
          <a:prstGeom prst="rect">
            <a:avLst/>
          </a:prstGeom>
          <a:solidFill>
            <a:srgbClr val="EEF2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45847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D4ED8"/>
                </a:solidFill>
              </a:rPr>
              <a:t>📊  환경 일치 확인 완료 | 실험 조건 : A · B · C 독립 변수 순차 비교</a:t>
            </a:r>
          </a:p>
        </p:txBody>
      </p:sp>
    </p:spTree>
    <p:extLst>
      <p:ext uri="{BB962C8B-B14F-4D97-AF65-F5344CB8AC3E}">
        <p14:creationId xmlns:p14="http://schemas.microsoft.com/office/powerpoint/2010/main" val="404372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r>
              <a:rPr lang="en-US" altLang="ko-KR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400" b="1" dirty="0">
                <a:solidFill>
                  <a:srgbClr val="FFFFFF"/>
                </a:solidFill>
              </a:rPr>
              <a:t>시스템 개선 - 내부 모델 RunPod 이관</a:t>
            </a:r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9488"/>
                </a:solidFill>
              </a:rPr>
              <a:t>CPU 기반 추론으로 답변 속도에 영향 → RunPod 서버리스로 이관하여 성능 개선</a:t>
            </a:r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246888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현황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On-premise CPU</a:t>
            </a:r>
          </a:p>
        </p:txBody>
      </p:sp>
      <p:sp>
        <p:nvSpPr>
          <p:cNvPr id="13" name="Shape 11"/>
          <p:cNvSpPr/>
          <p:nvPr/>
        </p:nvSpPr>
        <p:spPr>
          <a:xfrm>
            <a:off x="2926080" y="180594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468880" cy="7772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이관</a:t>
            </a:r>
          </a:p>
        </p:txBody>
      </p:sp>
      <p:sp>
        <p:nvSpPr>
          <p:cNvPr id="16" name="Text 14"/>
          <p:cNvSpPr/>
          <p:nvPr/>
        </p:nvSpPr>
        <p:spPr>
          <a:xfrm>
            <a:off x="329184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FBF1"/>
                </a:solidFill>
              </a:rPr>
              <a:t>RunPod Serverless</a:t>
            </a:r>
          </a:p>
        </p:txBody>
      </p:sp>
      <p:sp>
        <p:nvSpPr>
          <p:cNvPr id="17" name="Shape 15"/>
          <p:cNvSpPr/>
          <p:nvPr/>
        </p:nvSpPr>
        <p:spPr>
          <a:xfrm>
            <a:off x="5760720" y="1805940"/>
            <a:ext cx="3657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468880" cy="7772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126480" y="1417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400" b="1" dirty="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1000" dirty="0">
                <a:solidFill>
                  <a:srgbClr val="CCFBF1"/>
                </a:solidFill>
              </a:rPr>
              <a:t>답변 속도 개선</a:t>
            </a:r>
          </a:p>
        </p:txBody>
      </p:sp>
      <p:sp>
        <p:nvSpPr>
          <p:cNvPr id="21" name="Shape 19"/>
          <p:cNvSpPr/>
          <p:nvPr/>
        </p:nvSpPr>
        <p:spPr>
          <a:xfrm>
            <a:off x="320040" y="242316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20040" y="2423160"/>
            <a:ext cx="73152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E293B"/>
                </a:solidFill>
              </a:rPr>
              <a:t>이관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02920" y="289864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50" dirty="0">
                <a:solidFill>
                  <a:srgbClr val="64748B"/>
                </a:solidFill>
              </a:rPr>
              <a:t>CPU 기반 모델 추론으로 응답 속도 저하 · 사용자 경험에 직접 영향</a:t>
            </a:r>
          </a:p>
        </p:txBody>
      </p:sp>
      <p:sp>
        <p:nvSpPr>
          <p:cNvPr id="25" name="Shape 23"/>
          <p:cNvSpPr/>
          <p:nvPr/>
        </p:nvSpPr>
        <p:spPr>
          <a:xfrm>
            <a:off x="4754880" y="242316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754880" y="2423160"/>
            <a:ext cx="73152" cy="11704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937760" y="2514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E293B"/>
                </a:solidFill>
              </a:rPr>
              <a:t>이관 대상 모델</a:t>
            </a:r>
          </a:p>
        </p:txBody>
      </p:sp>
      <p:sp>
        <p:nvSpPr>
          <p:cNvPr id="28" name="Text 26"/>
          <p:cNvSpPr/>
          <p:nvPr/>
        </p:nvSpPr>
        <p:spPr>
          <a:xfrm>
            <a:off x="4937760" y="289864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임베딩: BAAI/bge-m3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리랭커: bge-reranker-base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20040" y="3749040"/>
            <a:ext cx="73152" cy="117043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840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E293B"/>
                </a:solidFill>
              </a:rPr>
              <a:t>구성 방식</a:t>
            </a:r>
          </a:p>
        </p:txBody>
      </p:sp>
      <p:sp>
        <p:nvSpPr>
          <p:cNvPr id="32" name="Text 30"/>
          <p:cNvSpPr/>
          <p:nvPr/>
        </p:nvSpPr>
        <p:spPr>
          <a:xfrm>
            <a:off x="502920" y="42245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50" dirty="0">
                <a:solidFill>
                  <a:srgbClr val="64748B"/>
                </a:solidFill>
              </a:rPr>
              <a:t>Docker 이미지 패키징 → RunPod Serverless Endpoint 등록</a:t>
            </a:r>
          </a:p>
        </p:txBody>
      </p:sp>
      <p:sp>
        <p:nvSpPr>
          <p:cNvPr id="33" name="Shape 31"/>
          <p:cNvSpPr/>
          <p:nvPr/>
        </p:nvSpPr>
        <p:spPr>
          <a:xfrm>
            <a:off x="4754880" y="3749040"/>
            <a:ext cx="411480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754880" y="3749040"/>
            <a:ext cx="73152" cy="117043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937760" y="38404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1E293B"/>
                </a:solidFill>
              </a:rPr>
              <a:t>기대 효과</a:t>
            </a:r>
          </a:p>
        </p:txBody>
      </p:sp>
      <p:sp>
        <p:nvSpPr>
          <p:cNvPr id="36" name="Text 34"/>
          <p:cNvSpPr/>
          <p:nvPr/>
        </p:nvSpPr>
        <p:spPr>
          <a:xfrm>
            <a:off x="4937760" y="42245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50" dirty="0">
                <a:solidFill>
                  <a:srgbClr val="64748B"/>
                </a:solidFill>
              </a:rPr>
              <a:t>답변 속도 개선 · 유휴 비용 Zero · 서버 관리 부담 제거</a:t>
            </a:r>
          </a:p>
        </p:txBody>
      </p:sp>
    </p:spTree>
    <p:extLst>
      <p:ext uri="{BB962C8B-B14F-4D97-AF65-F5344CB8AC3E}">
        <p14:creationId xmlns:p14="http://schemas.microsoft.com/office/powerpoint/2010/main" val="394858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400" b="1" dirty="0">
                <a:solidFill>
                  <a:srgbClr val="FFFFFF"/>
                </a:solidFill>
              </a:rPr>
              <a:t>시스템 개선 - ChromaDB Docker Image로 이관</a:t>
            </a:r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9488"/>
                </a:solidFill>
              </a:rPr>
              <a:t>RAG Server에서 ChromaDB를 분리하여 독립 컨테이너로 운영</a:t>
            </a:r>
          </a:p>
        </p:txBody>
      </p:sp>
      <p:sp>
        <p:nvSpPr>
          <p:cNvPr id="10" name="Shape 8"/>
          <p:cNvSpPr/>
          <p:nvPr/>
        </p:nvSpPr>
        <p:spPr>
          <a:xfrm>
            <a:off x="317500" y="1371600"/>
            <a:ext cx="8509000" cy="609600"/>
          </a:xfrm>
          <a:prstGeom prst="rect">
            <a:avLst/>
          </a:prstGeom>
          <a:solidFill>
            <a:srgbClr val="0D9488"/>
          </a:solidFill>
          <a:ln w="12700">
            <a:noFill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4500" y="1422400"/>
            <a:ext cx="203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🔧  이관 배경</a:t>
            </a:r>
          </a:p>
        </p:txBody>
      </p:sp>
      <p:sp>
        <p:nvSpPr>
          <p:cNvPr id="13" name="Text 11"/>
          <p:cNvSpPr/>
          <p:nvPr/>
        </p:nvSpPr>
        <p:spPr>
          <a:xfrm>
            <a:off x="444500" y="17018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CCFBF1"/>
                </a:solidFill>
              </a:rPr>
              <a:t>기존 RAG Server Image에 ChromaDB가 포함되어 있었으나, 배포 구조 및 운영 효율을 고려하여 독립 Docker Image로 분리</a:t>
            </a:r>
          </a:p>
        </p:txBody>
      </p:sp>
      <p:sp>
        <p:nvSpPr>
          <p:cNvPr id="14" name="Shape 12"/>
          <p:cNvSpPr/>
          <p:nvPr/>
        </p:nvSpPr>
        <p:spPr>
          <a:xfrm>
            <a:off x="317500" y="2082800"/>
            <a:ext cx="4178300" cy="13589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17500" y="2082800"/>
            <a:ext cx="4178300" cy="406400"/>
          </a:xfrm>
          <a:prstGeom prst="rect">
            <a:avLst/>
          </a:prstGeom>
          <a:solidFill>
            <a:srgbClr val="0D948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463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🐳  ChromaDB 분리 구조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2565400"/>
            <a:ext cx="3898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rag-server 컨테이너와 chroma 컨테이너를 분리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→ docker-compose로 함께 구동, 네트워크로 통신</a:t>
            </a:r>
          </a:p>
        </p:txBody>
      </p:sp>
      <p:sp>
        <p:nvSpPr>
          <p:cNvPr id="18" name="Shape 16"/>
          <p:cNvSpPr/>
          <p:nvPr/>
        </p:nvSpPr>
        <p:spPr>
          <a:xfrm>
            <a:off x="4648200" y="2082800"/>
            <a:ext cx="4178300" cy="13589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48200" y="2082800"/>
            <a:ext cx="4178300" cy="406400"/>
          </a:xfrm>
          <a:prstGeom prst="rect">
            <a:avLst/>
          </a:prstGeom>
          <a:solidFill>
            <a:srgbClr val="1D4ED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87900" y="21463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🔀  환경 분리 &amp; 동기화</a:t>
            </a:r>
          </a:p>
        </p:txBody>
      </p:sp>
      <p:sp>
        <p:nvSpPr>
          <p:cNvPr id="21" name="Text 19"/>
          <p:cNvSpPr/>
          <p:nvPr/>
        </p:nvSpPr>
        <p:spPr>
          <a:xfrm>
            <a:off x="4787900" y="2565400"/>
            <a:ext cx="3898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테스트: 로컬 Chroma 사용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배포: 운영용 Chroma 컨테이너로 명확히 분리</a:t>
            </a:r>
          </a:p>
        </p:txBody>
      </p:sp>
      <p:sp>
        <p:nvSpPr>
          <p:cNvPr id="301" name="CardC_BG"/>
          <p:cNvSpPr>
            <a:spLocks noGrp="1"/>
          </p:cNvSpPr>
          <p:nvPr/>
        </p:nvSpPr>
        <p:spPr>
          <a:xfrm>
            <a:off x="317500" y="3543300"/>
            <a:ext cx="4178300" cy="13589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2" name="CardC_HDR"/>
          <p:cNvSpPr>
            <a:spLocks noGrp="1"/>
          </p:cNvSpPr>
          <p:nvPr/>
        </p:nvSpPr>
        <p:spPr>
          <a:xfrm>
            <a:off x="317500" y="3543300"/>
            <a:ext cx="4178300" cy="406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3" name="CardC_Title"/>
          <p:cNvSpPr>
            <a:spLocks noGrp="1"/>
          </p:cNvSpPr>
          <p:nvPr/>
        </p:nvSpPr>
        <p:spPr>
          <a:xfrm>
            <a:off x="457200" y="3606800"/>
            <a:ext cx="3898900" cy="304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💾  데이터 유실 방지</a:t>
            </a:r>
          </a:p>
        </p:txBody>
      </p:sp>
      <p:sp>
        <p:nvSpPr>
          <p:cNvPr id="304" name="CardC_Body"/>
          <p:cNvSpPr>
            <a:spLocks noGrp="1"/>
          </p:cNvSpPr>
          <p:nvPr/>
        </p:nvSpPr>
        <p:spPr>
          <a:xfrm>
            <a:off x="457200" y="4025900"/>
            <a:ext cx="38989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지원사업 데이터 최신화 자동화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→ AWS 스케줄러 기반 크롤링 및 Chroma 갱신</a:t>
            </a:r>
          </a:p>
        </p:txBody>
      </p:sp>
      <p:sp>
        <p:nvSpPr>
          <p:cNvPr id="311" name="CardD_BG"/>
          <p:cNvSpPr>
            <a:spLocks noGrp="1"/>
          </p:cNvSpPr>
          <p:nvPr/>
        </p:nvSpPr>
        <p:spPr>
          <a:xfrm>
            <a:off x="4648200" y="3543300"/>
            <a:ext cx="4178300" cy="13589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2" name="CardD_HDR"/>
          <p:cNvSpPr>
            <a:spLocks noGrp="1"/>
          </p:cNvSpPr>
          <p:nvPr/>
        </p:nvSpPr>
        <p:spPr>
          <a:xfrm>
            <a:off x="4648200" y="3543300"/>
            <a:ext cx="4178300" cy="406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3" name="CardD_Title"/>
          <p:cNvSpPr>
            <a:spLocks noGrp="1"/>
          </p:cNvSpPr>
          <p:nvPr/>
        </p:nvSpPr>
        <p:spPr>
          <a:xfrm>
            <a:off x="4787900" y="3606800"/>
            <a:ext cx="3898900" cy="304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🔒  보안 설정</a:t>
            </a:r>
          </a:p>
        </p:txBody>
      </p:sp>
      <p:sp>
        <p:nvSpPr>
          <p:cNvPr id="314" name="CardD_Body"/>
          <p:cNvSpPr>
            <a:spLocks noGrp="1"/>
          </p:cNvSpPr>
          <p:nvPr/>
        </p:nvSpPr>
        <p:spPr>
          <a:xfrm>
            <a:off x="4787900" y="4025900"/>
            <a:ext cx="38989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포트 개방 시 인증·접근 제한 없으면 보안 리스크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→ AWS 보안 그룹으로 접근 제한 허용</a:t>
            </a:r>
          </a:p>
        </p:txBody>
      </p:sp>
    </p:spTree>
    <p:extLst>
      <p:ext uri="{BB962C8B-B14F-4D97-AF65-F5344CB8AC3E}">
        <p14:creationId xmlns:p14="http://schemas.microsoft.com/office/powerpoint/2010/main" val="264965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400" b="1" dirty="0">
                <a:solidFill>
                  <a:srgbClr val="FFFFFF"/>
                </a:solidFill>
              </a:rPr>
              <a:t>보안 강화 - Nginx, OAuth, JWT, CSRF 대응</a:t>
            </a:r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9488"/>
                </a:solidFill>
              </a:rPr>
              <a:t>사용자 인증·접근 제어·에러 마스킹을 통한 서비스 보안 체계 구축</a:t>
            </a:r>
          </a:p>
        </p:txBody>
      </p:sp>
      <p:sp>
        <p:nvSpPr>
          <p:cNvPr id="10" name="Shape 8"/>
          <p:cNvSpPr/>
          <p:nvPr/>
        </p:nvSpPr>
        <p:spPr>
          <a:xfrm>
            <a:off x="317500" y="1371600"/>
            <a:ext cx="8509000" cy="609600"/>
          </a:xfrm>
          <a:prstGeom prst="rect">
            <a:avLst/>
          </a:prstGeom>
          <a:solidFill>
            <a:srgbClr val="DC2626"/>
          </a:solidFill>
          <a:ln w="12700">
            <a:noFill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4500" y="1422400"/>
            <a:ext cx="203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🛡  보안 적용 개요</a:t>
            </a:r>
          </a:p>
        </p:txBody>
      </p:sp>
      <p:sp>
        <p:nvSpPr>
          <p:cNvPr id="13" name="Text 11"/>
          <p:cNvSpPr/>
          <p:nvPr/>
        </p:nvSpPr>
        <p:spPr>
          <a:xfrm>
            <a:off x="444500" y="17018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CCFBF1"/>
                </a:solidFill>
              </a:rPr>
              <a:t>Nginx로 외부는 Frontend만 노출, RAG Server는 Backend를 통해서만 접근 가능하도록 구성</a:t>
            </a:r>
          </a:p>
        </p:txBody>
      </p:sp>
      <p:sp>
        <p:nvSpPr>
          <p:cNvPr id="14" name="Shape 12"/>
          <p:cNvSpPr/>
          <p:nvPr/>
        </p:nvSpPr>
        <p:spPr>
          <a:xfrm>
            <a:off x="317500" y="2082800"/>
            <a:ext cx="4178300" cy="13589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17500" y="2082800"/>
            <a:ext cx="4178300" cy="406400"/>
          </a:xfrm>
          <a:prstGeom prst="rect">
            <a:avLst/>
          </a:prstGeom>
          <a:solidFill>
            <a:srgbClr val="1A3C6E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1463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🌐  Nginx 접근 제어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2565400"/>
            <a:ext cx="3898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사용자는 Frontend(포트 443)에만 접근 가능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→ Backend/RAG 포트는 외부 노출 차단</a:t>
            </a:r>
          </a:p>
        </p:txBody>
      </p:sp>
      <p:sp>
        <p:nvSpPr>
          <p:cNvPr id="18" name="Shape 16"/>
          <p:cNvSpPr/>
          <p:nvPr/>
        </p:nvSpPr>
        <p:spPr>
          <a:xfrm>
            <a:off x="4648200" y="2082800"/>
            <a:ext cx="4178300" cy="13589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48200" y="2082800"/>
            <a:ext cx="4178300" cy="406400"/>
          </a:xfrm>
          <a:prstGeom prst="rect">
            <a:avLst/>
          </a:prstGeom>
          <a:solidFill>
            <a:srgbClr val="1D4ED8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87900" y="2146300"/>
            <a:ext cx="389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🔑  Google OAuth &amp; JWT 로그인</a:t>
            </a:r>
          </a:p>
        </p:txBody>
      </p:sp>
      <p:sp>
        <p:nvSpPr>
          <p:cNvPr id="21" name="Text 19"/>
          <p:cNvSpPr/>
          <p:nvPr/>
        </p:nvSpPr>
        <p:spPr>
          <a:xfrm>
            <a:off x="4787900" y="2565400"/>
            <a:ext cx="3898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Google OAuth 2.0으로 소셜 로그인 처리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→ JWT Access/Refresh Token으로 세션 관리</a:t>
            </a:r>
          </a:p>
        </p:txBody>
      </p:sp>
      <p:sp>
        <p:nvSpPr>
          <p:cNvPr id="301" name="CardC_BG"/>
          <p:cNvSpPr>
            <a:spLocks noGrp="1"/>
          </p:cNvSpPr>
          <p:nvPr/>
        </p:nvSpPr>
        <p:spPr>
          <a:xfrm>
            <a:off x="317500" y="3543300"/>
            <a:ext cx="4178300" cy="13589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02" name="CardC_HDR"/>
          <p:cNvSpPr>
            <a:spLocks noGrp="1"/>
          </p:cNvSpPr>
          <p:nvPr/>
        </p:nvSpPr>
        <p:spPr>
          <a:xfrm>
            <a:off x="317500" y="3543300"/>
            <a:ext cx="4178300" cy="406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3" name="CardC_Title"/>
          <p:cNvSpPr>
            <a:spLocks noGrp="1"/>
          </p:cNvSpPr>
          <p:nvPr/>
        </p:nvSpPr>
        <p:spPr>
          <a:xfrm>
            <a:off x="457200" y="3606800"/>
            <a:ext cx="3898900" cy="304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🔀  RAG → Backend 라우팅</a:t>
            </a:r>
          </a:p>
        </p:txBody>
      </p:sp>
      <p:sp>
        <p:nvSpPr>
          <p:cNvPr id="304" name="CardC_Body"/>
          <p:cNvSpPr>
            <a:spLocks noGrp="1"/>
          </p:cNvSpPr>
          <p:nvPr/>
        </p:nvSpPr>
        <p:spPr>
          <a:xfrm>
            <a:off x="457200" y="4025900"/>
            <a:ext cx="38989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RAG Server 직접 호출 제거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→ Frontend → Backend → RAG 순서로만 요청</a:t>
            </a:r>
          </a:p>
        </p:txBody>
      </p:sp>
      <p:sp>
        <p:nvSpPr>
          <p:cNvPr id="311" name="CardD_BG"/>
          <p:cNvSpPr>
            <a:spLocks noGrp="1"/>
          </p:cNvSpPr>
          <p:nvPr/>
        </p:nvSpPr>
        <p:spPr>
          <a:xfrm>
            <a:off x="4648200" y="3543300"/>
            <a:ext cx="4178300" cy="13589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2" name="CardD_HDR"/>
          <p:cNvSpPr>
            <a:spLocks noGrp="1"/>
          </p:cNvSpPr>
          <p:nvPr/>
        </p:nvSpPr>
        <p:spPr>
          <a:xfrm>
            <a:off x="4648200" y="3543300"/>
            <a:ext cx="4178300" cy="406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3" name="CardD_Title"/>
          <p:cNvSpPr>
            <a:spLocks noGrp="1"/>
          </p:cNvSpPr>
          <p:nvPr/>
        </p:nvSpPr>
        <p:spPr>
          <a:xfrm>
            <a:off x="4787900" y="3606800"/>
            <a:ext cx="3898900" cy="3048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FFFFFF"/>
                </a:solidFill>
              </a:rPr>
              <a:t>⚠️  CSRF &amp; 에러 마스킹</a:t>
            </a:r>
          </a:p>
        </p:txBody>
      </p:sp>
      <p:sp>
        <p:nvSpPr>
          <p:cNvPr id="314" name="CardD_Body"/>
          <p:cNvSpPr>
            <a:spLocks noGrp="1"/>
          </p:cNvSpPr>
          <p:nvPr/>
        </p:nvSpPr>
        <p:spPr>
          <a:xfrm>
            <a:off x="4787900" y="4025900"/>
            <a:ext cx="3898900" cy="8255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CSRF 토큰으로 위조 요청 차단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ko-KR" sz="1000" dirty="0">
                <a:solidFill>
                  <a:srgbClr val="1E293B"/>
                </a:solidFill>
              </a:rPr>
              <a:t>→ 에러 마스킹으로 서버 정보 노출 방지</a:t>
            </a:r>
          </a:p>
        </p:txBody>
      </p:sp>
    </p:spTree>
    <p:extLst>
      <p:ext uri="{BB962C8B-B14F-4D97-AF65-F5344CB8AC3E}">
        <p14:creationId xmlns:p14="http://schemas.microsoft.com/office/powerpoint/2010/main" val="1866553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r>
              <a:rPr lang="en-US" altLang="ko-KR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400" b="1" dirty="0">
                <a:solidFill>
                  <a:srgbClr val="FFFFFF"/>
                </a:solidFill>
              </a:rPr>
              <a:t>AWS 배포 및 Web 개선</a:t>
            </a:r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9488"/>
                </a:solidFill>
              </a:rPr>
              <a:t>AWS 인프라 배포 · 관리자 대시보드 · 사용자 경험 개선 완료</a:t>
            </a:r>
          </a:p>
        </p:txBody>
      </p:sp>
      <p:sp>
        <p:nvSpPr>
          <p:cNvPr id="10" name="Shape 8"/>
          <p:cNvSpPr/>
          <p:nvPr/>
        </p:nvSpPr>
        <p:spPr>
          <a:xfrm>
            <a:off x="317500" y="1371600"/>
            <a:ext cx="8509000" cy="66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89200" y="1376000"/>
            <a:ext cx="1270000" cy="6560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</a:rPr>
              <a:t>Infrastructure</a:t>
            </a:r>
          </a:p>
        </p:txBody>
      </p:sp>
      <p:sp>
        <p:nvSpPr>
          <p:cNvPr id="14" name="Shape 12"/>
          <p:cNvSpPr/>
          <p:nvPr/>
        </p:nvSpPr>
        <p:spPr>
          <a:xfrm>
            <a:off x="3860800" y="1376000"/>
            <a:ext cx="4963160" cy="656000"/>
          </a:xfrm>
          <a:prstGeom prst="rect">
            <a:avLst/>
          </a:prstGeom>
          <a:noFill/>
          <a:ln w="12700">
            <a:noFill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 lIns="72000" anchor="ctr"/>
          <a:lstStyle/>
          <a:p>
            <a:r>
              <a:rPr lang="en-US" sz="1000" dirty="0">
                <a:solidFill>
                  <a:srgbClr val="475569"/>
                </a:solidFill>
              </a:rPr>
              <a:t>EC2(</a:t>
            </a:r>
            <a:r>
              <a:rPr lang="en-US" altLang="ko-KR" sz="1000" dirty="0">
                <a:solidFill>
                  <a:srgbClr val="475569"/>
                </a:solidFill>
              </a:rPr>
              <a:t>t3.medium)</a:t>
            </a:r>
            <a:r>
              <a:rPr lang="en-US" sz="1000" dirty="0">
                <a:solidFill>
                  <a:srgbClr val="475569"/>
                </a:solidFill>
              </a:rPr>
              <a:t> + Docker Compose · RDS(MySQL) · S3 기반 전체 서비스 AWS </a:t>
            </a:r>
            <a:r>
              <a:rPr lang="en-US" sz="1000" dirty="0" err="1">
                <a:solidFill>
                  <a:srgbClr val="475569"/>
                </a:solidFill>
              </a:rPr>
              <a:t>배포</a:t>
            </a:r>
            <a:endParaRPr lang="en-US" sz="1000" dirty="0">
              <a:solidFill>
                <a:srgbClr val="475569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66100" y="1511300"/>
            <a:ext cx="66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17" name="Text 15"/>
          <p:cNvSpPr/>
          <p:nvPr/>
        </p:nvSpPr>
        <p:spPr>
          <a:xfrm>
            <a:off x="317500" y="2108200"/>
            <a:ext cx="850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50F8E9E-E37E-A935-BDC3-2847C11DA030}"/>
              </a:ext>
            </a:extLst>
          </p:cNvPr>
          <p:cNvSpPr/>
          <p:nvPr/>
        </p:nvSpPr>
        <p:spPr>
          <a:xfrm>
            <a:off x="314960" y="2106000"/>
            <a:ext cx="8509000" cy="66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12420" y="2108200"/>
            <a:ext cx="81280" cy="66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08000" y="2108200"/>
            <a:ext cx="1879600" cy="656000"/>
          </a:xfrm>
          <a:prstGeom prst="rect">
            <a:avLst/>
          </a:prstGeom>
          <a:noFill/>
          <a:ln w="12700">
            <a:noFill/>
          </a:ln>
        </p:spPr>
        <p:txBody>
          <a:bodyPr lIns="7200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관리자 대시보드</a:t>
            </a:r>
          </a:p>
        </p:txBody>
      </p:sp>
      <p:sp>
        <p:nvSpPr>
          <p:cNvPr id="20" name="Text 18"/>
          <p:cNvSpPr/>
          <p:nvPr/>
        </p:nvSpPr>
        <p:spPr>
          <a:xfrm>
            <a:off x="2489200" y="2108200"/>
            <a:ext cx="1270000" cy="6560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r>
              <a:rPr lang="en-US" sz="950" dirty="0">
                <a:solidFill>
                  <a:srgbClr val="0D9488"/>
                </a:solidFill>
              </a:rPr>
              <a:t>Admin Dashboard</a:t>
            </a:r>
          </a:p>
        </p:txBody>
      </p:sp>
      <p:sp>
        <p:nvSpPr>
          <p:cNvPr id="21" name="Text 19"/>
          <p:cNvSpPr/>
          <p:nvPr/>
        </p:nvSpPr>
        <p:spPr>
          <a:xfrm>
            <a:off x="3860800" y="2108200"/>
            <a:ext cx="4963160" cy="6560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회원 관리 · 이용 통계 시각화 · RAG 검색 품질 모니터링 화면 구현</a:t>
            </a:r>
          </a:p>
        </p:txBody>
      </p:sp>
      <p:sp>
        <p:nvSpPr>
          <p:cNvPr id="401" name="Bar1"/>
          <p:cNvSpPr>
            <a:spLocks noGrp="1"/>
          </p:cNvSpPr>
          <p:nvPr/>
        </p:nvSpPr>
        <p:spPr>
          <a:xfrm>
            <a:off x="317500" y="1371600"/>
            <a:ext cx="76200" cy="66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01" name="BdgTxt501"/>
          <p:cNvSpPr>
            <a:spLocks noGrp="1"/>
          </p:cNvSpPr>
          <p:nvPr/>
        </p:nvSpPr>
        <p:spPr>
          <a:xfrm>
            <a:off x="8166100" y="2247900"/>
            <a:ext cx="660400" cy="3810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510" name="RowBG510"/>
          <p:cNvSpPr>
            <a:spLocks noGrp="1"/>
          </p:cNvSpPr>
          <p:nvPr/>
        </p:nvSpPr>
        <p:spPr>
          <a:xfrm>
            <a:off x="317500" y="2844800"/>
            <a:ext cx="8509000" cy="660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1" name="RowBar511"/>
          <p:cNvSpPr>
            <a:spLocks noGrp="1"/>
          </p:cNvSpPr>
          <p:nvPr/>
        </p:nvSpPr>
        <p:spPr>
          <a:xfrm>
            <a:off x="317500" y="2844800"/>
            <a:ext cx="76200" cy="6604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12" name="RowTtl512"/>
          <p:cNvSpPr>
            <a:spLocks noGrp="1"/>
          </p:cNvSpPr>
          <p:nvPr/>
        </p:nvSpPr>
        <p:spPr>
          <a:xfrm>
            <a:off x="508000" y="2840400"/>
            <a:ext cx="187960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평가 대시보드</a:t>
            </a:r>
          </a:p>
        </p:txBody>
      </p:sp>
      <p:sp>
        <p:nvSpPr>
          <p:cNvPr id="513" name="RowSub513"/>
          <p:cNvSpPr>
            <a:spLocks noGrp="1"/>
          </p:cNvSpPr>
          <p:nvPr/>
        </p:nvSpPr>
        <p:spPr>
          <a:xfrm>
            <a:off x="2489200" y="2840400"/>
            <a:ext cx="127000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C6E"/>
                </a:solidFill>
              </a:rPr>
              <a:t>Eval Dashboard</a:t>
            </a:r>
          </a:p>
        </p:txBody>
      </p:sp>
      <p:sp>
        <p:nvSpPr>
          <p:cNvPr id="514" name="RowDesc514"/>
          <p:cNvSpPr>
            <a:spLocks noGrp="1"/>
          </p:cNvSpPr>
          <p:nvPr/>
        </p:nvSpPr>
        <p:spPr>
          <a:xfrm>
            <a:off x="3860800" y="2840400"/>
            <a:ext cx="496316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Faithfulness · 관련성 · F1 Score 기반 RAG 품질 실시간 확인 화면</a:t>
            </a:r>
          </a:p>
        </p:txBody>
      </p:sp>
      <p:sp>
        <p:nvSpPr>
          <p:cNvPr id="516" name="RowBdgTxt516"/>
          <p:cNvSpPr>
            <a:spLocks noGrp="1"/>
          </p:cNvSpPr>
          <p:nvPr/>
        </p:nvSpPr>
        <p:spPr>
          <a:xfrm>
            <a:off x="8166100" y="2984500"/>
            <a:ext cx="660400" cy="3810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520" name="RowBG520"/>
          <p:cNvSpPr>
            <a:spLocks noGrp="1"/>
          </p:cNvSpPr>
          <p:nvPr/>
        </p:nvSpPr>
        <p:spPr>
          <a:xfrm>
            <a:off x="317500" y="3581400"/>
            <a:ext cx="8509000" cy="660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21" name="RowBar521"/>
          <p:cNvSpPr>
            <a:spLocks noGrp="1"/>
          </p:cNvSpPr>
          <p:nvPr/>
        </p:nvSpPr>
        <p:spPr>
          <a:xfrm>
            <a:off x="317500" y="3581400"/>
            <a:ext cx="76200" cy="660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2" name="RowTtl522"/>
          <p:cNvSpPr>
            <a:spLocks noGrp="1"/>
          </p:cNvSpPr>
          <p:nvPr/>
        </p:nvSpPr>
        <p:spPr>
          <a:xfrm>
            <a:off x="508000" y="3580100"/>
            <a:ext cx="187960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데이터 파이프라인</a:t>
            </a:r>
          </a:p>
        </p:txBody>
      </p:sp>
      <p:sp>
        <p:nvSpPr>
          <p:cNvPr id="523" name="RowSub523"/>
          <p:cNvSpPr>
            <a:spLocks noGrp="1"/>
          </p:cNvSpPr>
          <p:nvPr/>
        </p:nvSpPr>
        <p:spPr>
          <a:xfrm>
            <a:off x="2489200" y="3580100"/>
            <a:ext cx="127000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4ED8"/>
                </a:solidFill>
              </a:rPr>
              <a:t>Auto Pipeline</a:t>
            </a:r>
          </a:p>
        </p:txBody>
      </p:sp>
      <p:sp>
        <p:nvSpPr>
          <p:cNvPr id="524" name="RowDesc524"/>
          <p:cNvSpPr>
            <a:spLocks noGrp="1"/>
          </p:cNvSpPr>
          <p:nvPr/>
        </p:nvSpPr>
        <p:spPr>
          <a:xfrm>
            <a:off x="3860800" y="3580100"/>
            <a:ext cx="496316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지원사업 문서 크롤링 → ChromaDB 자동 적재 파이프라인 구축</a:t>
            </a:r>
          </a:p>
        </p:txBody>
      </p:sp>
      <p:sp>
        <p:nvSpPr>
          <p:cNvPr id="526" name="RowBdgTxt526"/>
          <p:cNvSpPr>
            <a:spLocks noGrp="1"/>
          </p:cNvSpPr>
          <p:nvPr/>
        </p:nvSpPr>
        <p:spPr>
          <a:xfrm>
            <a:off x="8166100" y="3721100"/>
            <a:ext cx="660400" cy="3810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530" name="RowBG530"/>
          <p:cNvSpPr>
            <a:spLocks noGrp="1"/>
          </p:cNvSpPr>
          <p:nvPr/>
        </p:nvSpPr>
        <p:spPr>
          <a:xfrm>
            <a:off x="317500" y="4318000"/>
            <a:ext cx="8509000" cy="660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31" name="RowBar531"/>
          <p:cNvSpPr>
            <a:spLocks noGrp="1"/>
          </p:cNvSpPr>
          <p:nvPr/>
        </p:nvSpPr>
        <p:spPr>
          <a:xfrm>
            <a:off x="317500" y="4318000"/>
            <a:ext cx="76200" cy="66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2" name="RowTtl532"/>
          <p:cNvSpPr>
            <a:spLocks noGrp="1"/>
          </p:cNvSpPr>
          <p:nvPr/>
        </p:nvSpPr>
        <p:spPr>
          <a:xfrm>
            <a:off x="508000" y="4315400"/>
            <a:ext cx="187960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Web UI 개선</a:t>
            </a:r>
          </a:p>
        </p:txBody>
      </p:sp>
      <p:sp>
        <p:nvSpPr>
          <p:cNvPr id="533" name="RowSub533"/>
          <p:cNvSpPr>
            <a:spLocks noGrp="1"/>
          </p:cNvSpPr>
          <p:nvPr/>
        </p:nvSpPr>
        <p:spPr>
          <a:xfrm>
            <a:off x="2489200" y="4315400"/>
            <a:ext cx="127000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2626"/>
                </a:solidFill>
              </a:rPr>
              <a:t>UX / Frontend</a:t>
            </a:r>
          </a:p>
        </p:txBody>
      </p:sp>
      <p:sp>
        <p:nvSpPr>
          <p:cNvPr id="534" name="RowDesc534"/>
          <p:cNvSpPr>
            <a:spLocks noGrp="1"/>
          </p:cNvSpPr>
          <p:nvPr/>
        </p:nvSpPr>
        <p:spPr>
          <a:xfrm>
            <a:off x="3860800" y="4315400"/>
            <a:ext cx="4963160" cy="660400"/>
          </a:xfrm>
          <a:prstGeom prst="rect">
            <a:avLst/>
          </a:prstGeom>
          <a:noFill/>
        </p:spPr>
        <p:txBody>
          <a:bodyPr lIns="7200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질문 입력 · 도메인 선택 · 응답 표시 UI 사용성 개선</a:t>
            </a: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F7D81250-15C4-C75F-5B46-DBB06C06749D}"/>
              </a:ext>
            </a:extLst>
          </p:cNvPr>
          <p:cNvSpPr/>
          <p:nvPr/>
        </p:nvSpPr>
        <p:spPr>
          <a:xfrm>
            <a:off x="508000" y="1376000"/>
            <a:ext cx="1841500" cy="656000"/>
          </a:xfrm>
          <a:prstGeom prst="rect">
            <a:avLst/>
          </a:prstGeom>
          <a:noFill/>
          <a:ln w="12700">
            <a:noFill/>
          </a:ln>
        </p:spPr>
        <p:txBody>
          <a:bodyPr lIns="72000" anchor="ctr"/>
          <a:lstStyle/>
          <a:p>
            <a:pPr marL="0" indent="0" algn="l">
              <a:buNone/>
            </a:pPr>
            <a:r>
              <a:rPr lang="en-US" altLang="ko-KR" sz="1100" b="1" dirty="0">
                <a:solidFill>
                  <a:srgbClr val="1E293B"/>
                </a:solidFill>
              </a:rPr>
              <a:t>AWS </a:t>
            </a:r>
            <a:r>
              <a:rPr lang="ko-KR" altLang="en-US" sz="1100" b="1" dirty="0">
                <a:solidFill>
                  <a:srgbClr val="1E293B"/>
                </a:solidFill>
              </a:rPr>
              <a:t>배포</a:t>
            </a:r>
            <a:endParaRPr lang="ko-KR" sz="1100" b="1" dirty="0">
              <a:solidFill>
                <a:srgbClr val="1E293B"/>
              </a:solidFill>
            </a:endParaRPr>
          </a:p>
        </p:txBody>
      </p:sp>
      <p:sp>
        <p:nvSpPr>
          <p:cNvPr id="541" name="InProgressTxt"/>
          <p:cNvSpPr>
            <a:spLocks noGrp="1"/>
          </p:cNvSpPr>
          <p:nvPr/>
        </p:nvSpPr>
        <p:spPr>
          <a:xfrm>
            <a:off x="8166100" y="4457700"/>
            <a:ext cx="660400" cy="381000"/>
          </a:xfrm>
          <a:prstGeom prst="rect">
            <a:avLst/>
          </a:prstGeom>
          <a:noFill/>
        </p:spPr>
        <p:txBody>
          <a:bodyPr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진행 중</a:t>
            </a:r>
          </a:p>
        </p:txBody>
      </p:sp>
    </p:spTree>
    <p:extLst>
      <p:ext uri="{BB962C8B-B14F-4D97-AF65-F5344CB8AC3E}">
        <p14:creationId xmlns:p14="http://schemas.microsoft.com/office/powerpoint/2010/main" val="227468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r>
              <a:rPr lang="en-US" altLang="ko-KR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400" b="1" dirty="0">
                <a:solidFill>
                  <a:srgbClr val="FFFFFF"/>
                </a:solidFill>
              </a:rPr>
              <a:t>테스트 현황</a:t>
            </a:r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9488"/>
                </a:solidFill>
              </a:rPr>
              <a:t>단위 · AI 품질 · 성능 · Frontend · </a:t>
            </a:r>
            <a:r>
              <a:rPr lang="ko-KR" sz="1200" b="1" dirty="0" err="1">
                <a:solidFill>
                  <a:srgbClr val="0D9488"/>
                </a:solidFill>
              </a:rPr>
              <a:t>Backend</a:t>
            </a:r>
            <a:r>
              <a:rPr lang="ko-KR" sz="1200" b="1" dirty="0">
                <a:solidFill>
                  <a:srgbClr val="0D9488"/>
                </a:solidFill>
              </a:rPr>
              <a:t> 검증</a:t>
            </a:r>
          </a:p>
        </p:txBody>
      </p:sp>
      <p:sp>
        <p:nvSpPr>
          <p:cNvPr id="10" name="Shape 8"/>
          <p:cNvSpPr/>
          <p:nvPr/>
        </p:nvSpPr>
        <p:spPr>
          <a:xfrm>
            <a:off x="317500" y="1371600"/>
            <a:ext cx="850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17500" y="1371600"/>
            <a:ext cx="76200" cy="66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8000" y="1473200"/>
            <a:ext cx="1841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단위 테스트</a:t>
            </a:r>
          </a:p>
        </p:txBody>
      </p:sp>
      <p:sp>
        <p:nvSpPr>
          <p:cNvPr id="13" name="Text 11"/>
          <p:cNvSpPr/>
          <p:nvPr/>
        </p:nvSpPr>
        <p:spPr>
          <a:xfrm>
            <a:off x="2387600" y="1473200"/>
            <a:ext cx="1333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</a:rPr>
              <a:t>Unit Test</a:t>
            </a:r>
          </a:p>
        </p:txBody>
      </p:sp>
      <p:sp>
        <p:nvSpPr>
          <p:cNvPr id="14" name="Text 12"/>
          <p:cNvSpPr/>
          <p:nvPr/>
        </p:nvSpPr>
        <p:spPr>
          <a:xfrm>
            <a:off x="3759200" y="1473200"/>
            <a:ext cx="506476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도메인 분류, 검색, 답변 생성 등 각 기능 독립 검증 · 화면별 동작 확인</a:t>
            </a:r>
          </a:p>
        </p:txBody>
      </p:sp>
      <p:sp>
        <p:nvSpPr>
          <p:cNvPr id="16" name="Text 14"/>
          <p:cNvSpPr/>
          <p:nvPr/>
        </p:nvSpPr>
        <p:spPr>
          <a:xfrm>
            <a:off x="8166100" y="1511300"/>
            <a:ext cx="66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17" name="Shape 15"/>
          <p:cNvSpPr/>
          <p:nvPr/>
        </p:nvSpPr>
        <p:spPr>
          <a:xfrm>
            <a:off x="317500" y="2108200"/>
            <a:ext cx="850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17500" y="2108200"/>
            <a:ext cx="76200" cy="6604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8000" y="2209800"/>
            <a:ext cx="1841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AI 품질 테스트</a:t>
            </a:r>
          </a:p>
        </p:txBody>
      </p:sp>
      <p:sp>
        <p:nvSpPr>
          <p:cNvPr id="20" name="Text 18"/>
          <p:cNvSpPr/>
          <p:nvPr/>
        </p:nvSpPr>
        <p:spPr>
          <a:xfrm>
            <a:off x="2387600" y="2209800"/>
            <a:ext cx="1333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3C6E"/>
                </a:solidFill>
              </a:rPr>
              <a:t>Model Quality</a:t>
            </a:r>
          </a:p>
        </p:txBody>
      </p:sp>
      <p:sp>
        <p:nvSpPr>
          <p:cNvPr id="21" name="Text 19"/>
          <p:cNvSpPr/>
          <p:nvPr/>
        </p:nvSpPr>
        <p:spPr>
          <a:xfrm>
            <a:off x="3759200" y="2209800"/>
            <a:ext cx="506476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F1 · Precision · Recall 기반 검색 품질 평가 · RAGAS 고성능 모델 샘플 실험</a:t>
            </a:r>
          </a:p>
        </p:txBody>
      </p:sp>
      <p:sp>
        <p:nvSpPr>
          <p:cNvPr id="23" name="Text 21"/>
          <p:cNvSpPr/>
          <p:nvPr/>
        </p:nvSpPr>
        <p:spPr>
          <a:xfrm>
            <a:off x="8166100" y="2247900"/>
            <a:ext cx="66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24" name="Shape 22"/>
          <p:cNvSpPr/>
          <p:nvPr/>
        </p:nvSpPr>
        <p:spPr>
          <a:xfrm>
            <a:off x="317500" y="2844800"/>
            <a:ext cx="850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17500" y="2844800"/>
            <a:ext cx="76200" cy="660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8000" y="2946400"/>
            <a:ext cx="1841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성능 테스트</a:t>
            </a:r>
          </a:p>
        </p:txBody>
      </p:sp>
      <p:sp>
        <p:nvSpPr>
          <p:cNvPr id="27" name="Text 25"/>
          <p:cNvSpPr/>
          <p:nvPr/>
        </p:nvSpPr>
        <p:spPr>
          <a:xfrm>
            <a:off x="2387600" y="2946400"/>
            <a:ext cx="1333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D4ED8"/>
                </a:solidFill>
              </a:rPr>
              <a:t>Performance</a:t>
            </a:r>
          </a:p>
        </p:txBody>
      </p:sp>
      <p:sp>
        <p:nvSpPr>
          <p:cNvPr id="28" name="Text 26"/>
          <p:cNvSpPr/>
          <p:nvPr/>
        </p:nvSpPr>
        <p:spPr>
          <a:xfrm>
            <a:off x="3759200" y="2946400"/>
            <a:ext cx="506476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응답 시간 측정 · 복합 질문 및 Multi-query 처리 속도 개선 · </a:t>
            </a:r>
            <a:r>
              <a:rPr lang="ko-KR" sz="1000" dirty="0" err="1">
                <a:solidFill>
                  <a:srgbClr val="475569"/>
                </a:solidFill>
              </a:rPr>
              <a:t>Timeout</a:t>
            </a:r>
            <a:r>
              <a:rPr lang="ko-KR" sz="1000" dirty="0">
                <a:solidFill>
                  <a:srgbClr val="475569"/>
                </a:solidFill>
              </a:rPr>
              <a:t> 설정</a:t>
            </a:r>
          </a:p>
        </p:txBody>
      </p:sp>
      <p:sp>
        <p:nvSpPr>
          <p:cNvPr id="30" name="Text 28"/>
          <p:cNvSpPr/>
          <p:nvPr/>
        </p:nvSpPr>
        <p:spPr>
          <a:xfrm>
            <a:off x="8166100" y="2984500"/>
            <a:ext cx="66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31" name="Shape 29"/>
          <p:cNvSpPr/>
          <p:nvPr/>
        </p:nvSpPr>
        <p:spPr>
          <a:xfrm>
            <a:off x="317500" y="3581400"/>
            <a:ext cx="850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17500" y="3581400"/>
            <a:ext cx="76200" cy="66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8000" y="3683000"/>
            <a:ext cx="1841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Frontend 테스트</a:t>
            </a:r>
          </a:p>
        </p:txBody>
      </p:sp>
      <p:sp>
        <p:nvSpPr>
          <p:cNvPr id="34" name="Text 32"/>
          <p:cNvSpPr/>
          <p:nvPr/>
        </p:nvSpPr>
        <p:spPr>
          <a:xfrm>
            <a:off x="2387600" y="3683000"/>
            <a:ext cx="1333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</a:rPr>
              <a:t>UI / UX</a:t>
            </a:r>
          </a:p>
        </p:txBody>
      </p:sp>
      <p:sp>
        <p:nvSpPr>
          <p:cNvPr id="35" name="Text 33"/>
          <p:cNvSpPr/>
          <p:nvPr/>
        </p:nvSpPr>
        <p:spPr>
          <a:xfrm>
            <a:off x="3759200" y="3683000"/>
            <a:ext cx="506476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주요 화면 렌더링 · 질문 입력 및 응답 표시 · 도메인 선택 UI 동작 확인</a:t>
            </a:r>
          </a:p>
        </p:txBody>
      </p:sp>
      <p:sp>
        <p:nvSpPr>
          <p:cNvPr id="37" name="Text 35"/>
          <p:cNvSpPr/>
          <p:nvPr/>
        </p:nvSpPr>
        <p:spPr>
          <a:xfrm>
            <a:off x="8166100" y="3721100"/>
            <a:ext cx="66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  <p:sp>
        <p:nvSpPr>
          <p:cNvPr id="38" name="Shape 36"/>
          <p:cNvSpPr/>
          <p:nvPr/>
        </p:nvSpPr>
        <p:spPr>
          <a:xfrm>
            <a:off x="317500" y="4318000"/>
            <a:ext cx="850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17500" y="4318000"/>
            <a:ext cx="76200" cy="660400"/>
          </a:xfrm>
          <a:prstGeom prst="rect">
            <a:avLst/>
          </a:prstGeom>
          <a:solidFill>
            <a:srgbClr val="64748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08000" y="4419600"/>
            <a:ext cx="1841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1E293B"/>
                </a:solidFill>
              </a:rPr>
              <a:t>Backend 테스트</a:t>
            </a:r>
          </a:p>
        </p:txBody>
      </p:sp>
      <p:sp>
        <p:nvSpPr>
          <p:cNvPr id="41" name="Text 39"/>
          <p:cNvSpPr/>
          <p:nvPr/>
        </p:nvSpPr>
        <p:spPr>
          <a:xfrm>
            <a:off x="2387600" y="4419600"/>
            <a:ext cx="133350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C2626"/>
                </a:solidFill>
              </a:rPr>
              <a:t>API / Server</a:t>
            </a:r>
          </a:p>
        </p:txBody>
      </p:sp>
      <p:sp>
        <p:nvSpPr>
          <p:cNvPr id="42" name="Text 40"/>
          <p:cNvSpPr/>
          <p:nvPr/>
        </p:nvSpPr>
        <p:spPr>
          <a:xfrm>
            <a:off x="3759200" y="4419600"/>
            <a:ext cx="5064760" cy="482600"/>
          </a:xfrm>
          <a:prstGeom prst="rect">
            <a:avLst/>
          </a:prstGeom>
          <a:noFill/>
          <a:ln/>
        </p:spPr>
        <p:txBody>
          <a:bodyPr wrap="square" lIns="72000" tIns="0" rIns="0" bIns="0" rtlCol="0" anchor="ctr"/>
          <a:lstStyle/>
          <a:p>
            <a:pPr marL="0" indent="0" algn="l">
              <a:buNone/>
            </a:pPr>
            <a:r>
              <a:rPr lang="ko-KR" sz="1000" dirty="0">
                <a:solidFill>
                  <a:srgbClr val="475569"/>
                </a:solidFill>
              </a:rPr>
              <a:t>REST API 응답 정합성 · 인증 · 에러 처리 · RAG 파이프라인 연동 동작 확인</a:t>
            </a:r>
          </a:p>
        </p:txBody>
      </p:sp>
      <p:sp>
        <p:nvSpPr>
          <p:cNvPr id="44" name="Text 42"/>
          <p:cNvSpPr/>
          <p:nvPr/>
        </p:nvSpPr>
        <p:spPr>
          <a:xfrm>
            <a:off x="8166100" y="4457700"/>
            <a:ext cx="66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sz="850" b="1" dirty="0">
                <a:solidFill>
                  <a:srgbClr val="FFFFFF"/>
                </a:solidFill>
              </a:rPr>
              <a:t>✓ 완료</a:t>
            </a:r>
          </a:p>
        </p:txBody>
      </p:sp>
    </p:spTree>
    <p:extLst>
      <p:ext uri="{BB962C8B-B14F-4D97-AF65-F5344CB8AC3E}">
        <p14:creationId xmlns:p14="http://schemas.microsoft.com/office/powerpoint/2010/main" val="207145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6858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r>
              <a:rPr lang="en-US" altLang="ko-KR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향후 개발 계획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097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</a:rPr>
              <a:t>EasyBizi Weekly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961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</a:rPr>
              <a:t>Frontend · Backend · RAG Engine 우선순위별 로드맵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7500" y="1358900"/>
            <a:ext cx="2794000" cy="444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17500" y="13589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7500" y="2692400"/>
            <a:ext cx="2794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514600" y="2794000"/>
            <a:ext cx="533400" cy="254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514600" y="27940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1800" y="2794000"/>
            <a:ext cx="2057400" cy="2540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사용자 문서 라이브러리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1800" y="3098800"/>
            <a:ext cx="2578100" cy="3048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PDF·Word 포맷 다운로드 지원 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51200" y="1358900"/>
            <a:ext cx="2794000" cy="444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251200" y="13589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51200" y="2692400"/>
            <a:ext cx="2794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435600" y="2794000"/>
            <a:ext cx="533400" cy="254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35600" y="27940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52800" y="2794000"/>
            <a:ext cx="2057400" cy="2540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사업자 정보 연동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2800" y="3098800"/>
            <a:ext cx="2578100" cy="3048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사업자등록번호 기반 자동 조회 시스템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51200" y="3543300"/>
            <a:ext cx="2794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435600" y="3644900"/>
            <a:ext cx="533400" cy="254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435600" y="36449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52800" y="3644900"/>
            <a:ext cx="2057400" cy="2540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지원사업 추천 / 알림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52800" y="3949700"/>
            <a:ext cx="2578100" cy="3048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마감일 자동 알림 · 기업 정보 매칭 알고리즘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72200" y="1358900"/>
            <a:ext cx="2794000" cy="4445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172200" y="1358900"/>
            <a:ext cx="279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RAG Engine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72200" y="1841500"/>
            <a:ext cx="2794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8369300" y="1943100"/>
            <a:ext cx="533400" cy="254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8369300" y="19431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86500" y="1943100"/>
            <a:ext cx="2057400" cy="2540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문서 생성 Agent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86500" y="2247900"/>
            <a:ext cx="2578100" cy="3048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72000" indent="0" algn="l">
              <a:buNone/>
            </a:pPr>
            <a:r>
              <a:rPr lang="ko-KR" sz="950" dirty="0">
                <a:solidFill>
                  <a:srgbClr val="64748B"/>
                </a:solidFill>
              </a:rPr>
              <a:t>사업계획서·계약서·지원서류 자동 초안 작성</a:t>
            </a:r>
          </a:p>
        </p:txBody>
      </p:sp>
      <p:sp>
        <p:nvSpPr>
          <p:cNvPr id="46" name="Shape 44"/>
          <p:cNvSpPr/>
          <p:nvPr/>
        </p:nvSpPr>
        <p:spPr>
          <a:xfrm>
            <a:off x="6172200" y="2692400"/>
            <a:ext cx="2794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8369300" y="2794000"/>
            <a:ext cx="533400" cy="254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8369300" y="2794000"/>
            <a:ext cx="53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86500" y="2794000"/>
            <a:ext cx="2057400" cy="2540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Multi-query 개선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86500" y="3098800"/>
            <a:ext cx="2578100" cy="304800"/>
          </a:xfrm>
          <a:prstGeom prst="rect">
            <a:avLst/>
          </a:prstGeom>
          <a:noFill/>
          <a:ln/>
        </p:spPr>
        <p:txBody>
          <a:bodyPr wrap="square" lIns="72000" tIns="45720" rIns="91440" bIns="4572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복합 질문 처리 속도 개선 및 정확도 향상</a:t>
            </a:r>
            <a:endParaRPr lang="en-US" sz="950" dirty="0"/>
          </a:p>
        </p:txBody>
      </p:sp>
      <p:sp>
        <p:nvSpPr>
          <p:cNvPr id="200" name="LogBanner"/>
          <p:cNvSpPr>
            <a:spLocks noGrp="1"/>
          </p:cNvSpPr>
          <p:nvPr/>
        </p:nvSpPr>
        <p:spPr>
          <a:xfrm>
            <a:off x="317500" y="4381500"/>
            <a:ext cx="8509000" cy="660400"/>
          </a:xfrm>
          <a:prstGeom prst="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txBody>
          <a:bodyPr lIns="129600" tIns="72000" rIns="129600" bIns="72000" anchor="ctr"/>
          <a:lstStyle/>
          <a:p>
            <a:pPr marL="129600" indent="0" algn="l">
              <a:lnSpc>
                <a:spcPct val="120000"/>
              </a:lnSpc>
              <a:buNone/>
            </a:pPr>
            <a:r>
              <a:rPr lang="ko-KR" sz="900" b="1" dirty="0">
                <a:solidFill>
                  <a:srgbClr val="1E293B"/>
                </a:solidFill>
              </a:rPr>
              <a:t>📋 로그 전략 : </a:t>
            </a:r>
            <a:r>
              <a:rPr lang="ko-KR" sz="900" dirty="0">
                <a:solidFill>
                  <a:srgbClr val="1E293B"/>
                </a:solidFill>
              </a:rPr>
              <a:t>로그 포맷 설계 · Filebeat 수집 · Elasticsearch 저장 · Kibana 대시보드</a:t>
            </a:r>
          </a:p>
          <a:p>
            <a:pPr marL="129600" indent="0" algn="l">
              <a:lnSpc>
                <a:spcPct val="120000"/>
              </a:lnSpc>
              <a:buNone/>
            </a:pPr>
            <a:r>
              <a:rPr lang="ko-KR" sz="900" b="1" dirty="0">
                <a:solidFill>
                  <a:srgbClr val="1E293B"/>
                </a:solidFill>
              </a:rPr>
              <a:t>⚙️ 이미지 관리 : </a:t>
            </a:r>
            <a:r>
              <a:rPr lang="ko-KR" sz="900" dirty="0">
                <a:solidFill>
                  <a:srgbClr val="1E293B"/>
                </a:solidFill>
              </a:rPr>
              <a:t>ChromaDB 용량 증가 시 Docker 이미지 크기 최적화</a:t>
            </a:r>
          </a:p>
        </p:txBody>
      </p:sp>
      <p:sp>
        <p:nvSpPr>
          <p:cNvPr id="201" name="Shape FE_Card"/>
          <p:cNvSpPr>
            <a:spLocks noGrp="1"/>
          </p:cNvSpPr>
          <p:nvPr/>
        </p:nvSpPr>
        <p:spPr>
          <a:xfrm>
            <a:off x="317500" y="1841500"/>
            <a:ext cx="2794000" cy="78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2" name="Shape FE_Badge"/>
          <p:cNvSpPr>
            <a:spLocks noGrp="1"/>
          </p:cNvSpPr>
          <p:nvPr/>
        </p:nvSpPr>
        <p:spPr>
          <a:xfrm>
            <a:off x="2514600" y="1943100"/>
            <a:ext cx="533400" cy="2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3" name="Text FE_BadgeTxt"/>
          <p:cNvSpPr txBox="1">
            <a:spLocks noGrp="1"/>
          </p:cNvSpPr>
          <p:nvPr/>
        </p:nvSpPr>
        <p:spPr>
          <a:xfrm>
            <a:off x="2514600" y="19431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04" name="Text FE_Label"/>
          <p:cNvSpPr txBox="1">
            <a:spLocks noGrp="1"/>
          </p:cNvSpPr>
          <p:nvPr/>
        </p:nvSpPr>
        <p:spPr>
          <a:xfrm>
            <a:off x="431800" y="1943100"/>
            <a:ext cx="20574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오류수정</a:t>
            </a:r>
            <a:endParaRPr lang="en-US" sz="1100" dirty="0"/>
          </a:p>
        </p:txBody>
      </p:sp>
      <p:sp>
        <p:nvSpPr>
          <p:cNvPr id="205" name="Text FE_Desc"/>
          <p:cNvSpPr txBox="1">
            <a:spLocks noGrp="1"/>
          </p:cNvSpPr>
          <p:nvPr/>
        </p:nvSpPr>
        <p:spPr>
          <a:xfrm>
            <a:off x="431800" y="2247900"/>
            <a:ext cx="25781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UI/UX 버그 및 기능 오류 수정</a:t>
            </a:r>
            <a:endParaRPr lang="en-US" sz="950" dirty="0"/>
          </a:p>
        </p:txBody>
      </p:sp>
      <p:sp>
        <p:nvSpPr>
          <p:cNvPr id="206" name="Shape BE_Card"/>
          <p:cNvSpPr>
            <a:spLocks noGrp="1"/>
          </p:cNvSpPr>
          <p:nvPr/>
        </p:nvSpPr>
        <p:spPr>
          <a:xfrm>
            <a:off x="3251200" y="1841500"/>
            <a:ext cx="2794000" cy="78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7" name="Shape BE_Badge"/>
          <p:cNvSpPr>
            <a:spLocks noGrp="1"/>
          </p:cNvSpPr>
          <p:nvPr/>
        </p:nvSpPr>
        <p:spPr>
          <a:xfrm>
            <a:off x="5435600" y="1943100"/>
            <a:ext cx="533400" cy="25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8" name="Text BE_BadgeTxt"/>
          <p:cNvSpPr txBox="1">
            <a:spLocks noGrp="1"/>
          </p:cNvSpPr>
          <p:nvPr/>
        </p:nvSpPr>
        <p:spPr>
          <a:xfrm>
            <a:off x="5435600" y="1943100"/>
            <a:ext cx="5334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09" name="Text BE_Label"/>
          <p:cNvSpPr txBox="1">
            <a:spLocks noGrp="1"/>
          </p:cNvSpPr>
          <p:nvPr/>
        </p:nvSpPr>
        <p:spPr>
          <a:xfrm>
            <a:off x="3352800" y="1943100"/>
            <a:ext cx="2057400" cy="254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오류수정</a:t>
            </a:r>
            <a:endParaRPr lang="en-US" sz="1100" dirty="0"/>
          </a:p>
        </p:txBody>
      </p:sp>
      <p:sp>
        <p:nvSpPr>
          <p:cNvPr id="210" name="Text BE_Desc"/>
          <p:cNvSpPr txBox="1">
            <a:spLocks noGrp="1"/>
          </p:cNvSpPr>
          <p:nvPr/>
        </p:nvSpPr>
        <p:spPr>
          <a:xfrm>
            <a:off x="3352800" y="2247900"/>
            <a:ext cx="25781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API 오류 및 서버 예외 처리 수정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6543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02B5D1-FDB6-9A47-8AB8-20764474E373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934</Words>
  <Application>Microsoft Macintosh PowerPoint</Application>
  <PresentationFormat>화면 슬라이드 쇼(16:9)</PresentationFormat>
  <Paragraphs>197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EasyBizi 주간 발표</dc:title>
  <dc:subject>PptxGenJS Presentation</dc:subject>
  <dc:creator>PptxGenJS</dc:creator>
  <cp:lastModifiedBy>SKN 20기_6</cp:lastModifiedBy>
  <cp:revision>3</cp:revision>
  <dcterms:created xsi:type="dcterms:W3CDTF">2026-02-22T16:04:36Z</dcterms:created>
  <dcterms:modified xsi:type="dcterms:W3CDTF">2026-02-23T00:24:30Z</dcterms:modified>
</cp:coreProperties>
</file>